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75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7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4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71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3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82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921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08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98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11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3329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28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96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293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556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8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CA3B2FC-AA98-4197-A666-15C35E9E2FE9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3C19D44-04C5-413B-A163-57E6379C1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628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A14A7482-E05E-328A-C07B-12BF570B30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1524000" y="1592890"/>
            <a:ext cx="90424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Customer Churn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F382C-A2EC-9785-0412-2E2389C472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Algorithm Analysis: Random Forest Classifier – A Comprehensive Analysis</a:t>
            </a:r>
          </a:p>
        </p:txBody>
      </p:sp>
    </p:spTree>
    <p:extLst>
      <p:ext uri="{BB962C8B-B14F-4D97-AF65-F5344CB8AC3E}">
        <p14:creationId xmlns:p14="http://schemas.microsoft.com/office/powerpoint/2010/main" val="1170296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3C77-7B64-C622-1A14-3592BF292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>
            <a:normAutofit/>
          </a:bodyPr>
          <a:lstStyle/>
          <a:p>
            <a:r>
              <a:rPr lang="en-US" sz="2800" dirty="0"/>
              <a:t>1.Introduction to the Algorithm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4544E-07BA-8A3C-9056-41853CEFA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5033963"/>
          </a:xfrm>
        </p:spPr>
        <p:txBody>
          <a:bodyPr/>
          <a:lstStyle/>
          <a:p>
            <a:r>
              <a:rPr lang="en-US" b="1" dirty="0"/>
              <a:t>Algorithm Selected:</a:t>
            </a:r>
            <a:r>
              <a:rPr lang="en-US" dirty="0"/>
              <a:t> Random Forest Classifier</a:t>
            </a:r>
          </a:p>
          <a:p>
            <a:r>
              <a:rPr lang="en-US" b="1" dirty="0"/>
              <a:t>What is it?</a:t>
            </a:r>
            <a:endParaRPr lang="en-US" dirty="0"/>
          </a:p>
          <a:p>
            <a:pPr lvl="1"/>
            <a:r>
              <a:rPr lang="en-US" dirty="0"/>
              <a:t>An </a:t>
            </a:r>
            <a:r>
              <a:rPr lang="en-US" b="1" dirty="0"/>
              <a:t>Ensemble Learning</a:t>
            </a:r>
            <a:r>
              <a:rPr lang="en-US" dirty="0"/>
              <a:t> method.</a:t>
            </a:r>
          </a:p>
          <a:p>
            <a:pPr lvl="1"/>
            <a:r>
              <a:rPr lang="en-US" dirty="0"/>
              <a:t>Constructs a "forest" of multiple Decision Trees.</a:t>
            </a:r>
          </a:p>
          <a:p>
            <a:r>
              <a:rPr lang="en-US" b="1" dirty="0"/>
              <a:t>Why Random Forest?</a:t>
            </a:r>
            <a:endParaRPr lang="en-US" dirty="0"/>
          </a:p>
          <a:p>
            <a:pPr lvl="1"/>
            <a:r>
              <a:rPr lang="en-US" b="1" dirty="0"/>
              <a:t>Robust:</a:t>
            </a:r>
            <a:r>
              <a:rPr lang="en-US" dirty="0"/>
              <a:t> Reduces overfitting (unlike single Decision Trees).</a:t>
            </a:r>
          </a:p>
          <a:p>
            <a:pPr lvl="1"/>
            <a:r>
              <a:rPr lang="en-US" b="1" dirty="0"/>
              <a:t>Non-Linear:</a:t>
            </a:r>
            <a:r>
              <a:rPr lang="en-US" dirty="0"/>
              <a:t> Captures complex human behavior patterns.</a:t>
            </a:r>
          </a:p>
          <a:p>
            <a:pPr lvl="1"/>
            <a:r>
              <a:rPr lang="en-US" b="1" dirty="0"/>
              <a:t>Explainable:</a:t>
            </a:r>
            <a:r>
              <a:rPr lang="en-US" dirty="0"/>
              <a:t> Provides built-in "Feature Importance" scores.</a:t>
            </a:r>
          </a:p>
          <a:p>
            <a:r>
              <a:rPr lang="en-US" b="1" dirty="0"/>
              <a:t>Objective:</a:t>
            </a:r>
            <a:endParaRPr lang="en-US" dirty="0"/>
          </a:p>
          <a:p>
            <a:pPr lvl="1"/>
            <a:r>
              <a:rPr lang="en-US" dirty="0"/>
              <a:t>Classify customers as </a:t>
            </a:r>
            <a:r>
              <a:rPr lang="en-US" b="1" dirty="0"/>
              <a:t>"Churn" (Risk)</a:t>
            </a:r>
            <a:r>
              <a:rPr lang="en-US" dirty="0"/>
              <a:t> or </a:t>
            </a:r>
            <a:r>
              <a:rPr lang="en-US" b="1" dirty="0"/>
              <a:t>"No Churn" (Safe)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33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F9395-4CD0-51DB-55F8-A19732DCD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467" y="186267"/>
            <a:ext cx="10515600" cy="804333"/>
          </a:xfrm>
        </p:spPr>
        <p:txBody>
          <a:bodyPr>
            <a:noAutofit/>
          </a:bodyPr>
          <a:lstStyle/>
          <a:p>
            <a:r>
              <a:rPr lang="en-US" sz="2400" b="1" dirty="0"/>
              <a:t>2.Working Principle Concept: Bagging &amp; Majority Voting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3074" name="Picture 2" descr="Image of Random Forest algorithm structure">
            <a:extLst>
              <a:ext uri="{FF2B5EF4-FFF2-40B4-BE49-F238E27FC236}">
                <a16:creationId xmlns:a16="http://schemas.microsoft.com/office/drawing/2014/main" id="{A69FCD3B-6556-C565-B3C5-C9E868144A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299" y="775957"/>
            <a:ext cx="672063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64458B-AFC3-23B1-F2EB-993B0BC0AC92}"/>
              </a:ext>
            </a:extLst>
          </p:cNvPr>
          <p:cNvSpPr txBox="1"/>
          <p:nvPr/>
        </p:nvSpPr>
        <p:spPr>
          <a:xfrm>
            <a:off x="1083733" y="3657600"/>
            <a:ext cx="9914467" cy="3014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9E4C6B3-2B96-D8EF-C9E5-FE8224C3A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4889" y="2841768"/>
            <a:ext cx="9282221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Bootstrapping (Bagging):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creates random subsets of the training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tree is trained on a different subset (with replacement).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Parallel Training: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Hundreds of trees are built independently.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single tree sees the entire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Aggregation (The "Forest"):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Voting: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80 trees say "Churn" and 20 say "Stay", the final prediction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Churn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Outliers in one tree are cancelled out by the majority.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539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69200-79C7-A357-ACC3-B882504A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1808"/>
          </a:xfrm>
        </p:spPr>
        <p:txBody>
          <a:bodyPr/>
          <a:lstStyle/>
          <a:p>
            <a:r>
              <a:rPr lang="en-US" dirty="0"/>
              <a:t>3.Mathematical Intuition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54BCE5-EE91-6E8F-E8C2-278367B8B5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15999"/>
            <a:ext cx="8944500" cy="497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Split Decision: Gini Impurity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How does a tree decide to split?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It looks for the feature that best separates the classes (e.g., "Contract Type").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Metric: Gini Impurity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Measures the likelihood of incorrect classification of a random element.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Formula: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Interpretation: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Gini = 0: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Pure Node (All customers are the same).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Gini = 0.5: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Maximum Impurity (50/50 split).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Goal: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Minimize Gini Impurity at every split to create the purest possible leaf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100" name="Picture 4" descr="cart - How to derive equation of Gini index used in Decision ...">
            <a:extLst>
              <a:ext uri="{FF2B5EF4-FFF2-40B4-BE49-F238E27FC236}">
                <a16:creationId xmlns:a16="http://schemas.microsoft.com/office/drawing/2014/main" id="{2918C8B1-1EBB-B58D-FE04-918472600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450" y="3756556"/>
            <a:ext cx="2334683" cy="879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5050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29C99-4CA7-95E0-B117-8646F86C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4.Implementation Details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15074-777F-873F-D7B8-FCC9740FE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Dataset &amp; Preprocessing Pipeline</a:t>
            </a:r>
            <a:endParaRPr lang="en-US" dirty="0"/>
          </a:p>
          <a:p>
            <a:r>
              <a:rPr lang="en-US" b="1" dirty="0"/>
              <a:t>Data Source:</a:t>
            </a:r>
            <a:r>
              <a:rPr lang="en-US" dirty="0"/>
              <a:t> Telco Customer Churn (7,043 rows, 21 columns).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pPr lvl="1"/>
            <a:r>
              <a:rPr lang="en-US" i="1" dirty="0"/>
              <a:t>Demographics:</a:t>
            </a:r>
            <a:r>
              <a:rPr lang="en-US" dirty="0"/>
              <a:t> Senior Citizen, Partner.</a:t>
            </a:r>
          </a:p>
          <a:p>
            <a:pPr lvl="1"/>
            <a:r>
              <a:rPr lang="en-US" i="1" dirty="0"/>
              <a:t>Services:</a:t>
            </a:r>
            <a:r>
              <a:rPr lang="en-US" dirty="0"/>
              <a:t> Internet (Fiber/DSL), Tech Support.</a:t>
            </a:r>
          </a:p>
          <a:p>
            <a:pPr lvl="1"/>
            <a:r>
              <a:rPr lang="en-US" i="1" dirty="0"/>
              <a:t>Account:</a:t>
            </a:r>
            <a:r>
              <a:rPr lang="en-US" dirty="0"/>
              <a:t> Tenure, Contract, Monthly Charges.</a:t>
            </a:r>
          </a:p>
          <a:p>
            <a:r>
              <a:rPr lang="en-US" b="1" dirty="0"/>
              <a:t>Preprocessing Steps:</a:t>
            </a:r>
            <a:endParaRPr lang="en-US" dirty="0"/>
          </a:p>
          <a:p>
            <a:pPr lvl="1"/>
            <a:r>
              <a:rPr lang="en-US" b="1" dirty="0"/>
              <a:t>Cleaning:</a:t>
            </a:r>
            <a:r>
              <a:rPr lang="en-US" dirty="0"/>
              <a:t> Handled missing values in </a:t>
            </a:r>
            <a:r>
              <a:rPr lang="en-US" dirty="0" err="1"/>
              <a:t>TotalCharges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Encoding:</a:t>
            </a:r>
            <a:r>
              <a:rPr lang="en-US" dirty="0"/>
              <a:t> Converted categorical text to numbers (Label Encoding).</a:t>
            </a:r>
          </a:p>
          <a:p>
            <a:pPr lvl="1"/>
            <a:r>
              <a:rPr lang="en-US" b="1" dirty="0"/>
              <a:t>Splitting:</a:t>
            </a:r>
            <a:r>
              <a:rPr lang="en-US" dirty="0"/>
              <a:t> 80% Training / 20% Testing.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644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BA10-3F0A-C803-EF03-791361B23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5.Implementation Details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51C6E-4C30-0849-035C-FCFA6A2A2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Handling Class Imbalance</a:t>
            </a:r>
            <a:endParaRPr lang="en-US" dirty="0"/>
          </a:p>
          <a:p>
            <a:r>
              <a:rPr lang="en-US" b="1" dirty="0"/>
              <a:t>The Problem:</a:t>
            </a:r>
            <a:endParaRPr lang="en-US" dirty="0"/>
          </a:p>
          <a:p>
            <a:pPr lvl="1"/>
            <a:r>
              <a:rPr lang="en-US" dirty="0"/>
              <a:t>Real-world data is biased: "No Churn" &gt; "Churn".</a:t>
            </a:r>
          </a:p>
          <a:p>
            <a:pPr lvl="1"/>
            <a:r>
              <a:rPr lang="en-US" dirty="0"/>
              <a:t>Models tend to ignore the minority class (Churners).</a:t>
            </a:r>
          </a:p>
          <a:p>
            <a:r>
              <a:rPr lang="en-US" b="1" dirty="0"/>
              <a:t>The Solution: SMOTE</a:t>
            </a:r>
            <a:endParaRPr lang="en-US" dirty="0"/>
          </a:p>
          <a:p>
            <a:pPr lvl="1"/>
            <a:r>
              <a:rPr lang="en-US" i="1" dirty="0"/>
              <a:t>Synthetic Minority Oversampling Technique.</a:t>
            </a:r>
            <a:endParaRPr lang="en-US" dirty="0"/>
          </a:p>
          <a:p>
            <a:pPr lvl="1"/>
            <a:r>
              <a:rPr lang="en-US" dirty="0"/>
              <a:t>Creates </a:t>
            </a:r>
            <a:r>
              <a:rPr lang="en-US" b="1" dirty="0"/>
              <a:t>synthetic</a:t>
            </a:r>
            <a:r>
              <a:rPr lang="en-US" dirty="0"/>
              <a:t> examples of Churners by interpolating between existing points.</a:t>
            </a:r>
          </a:p>
          <a:p>
            <a:r>
              <a:rPr lang="en-US" b="1" dirty="0"/>
              <a:t>Result:</a:t>
            </a:r>
            <a:endParaRPr lang="en-US" dirty="0"/>
          </a:p>
          <a:p>
            <a:pPr lvl="1"/>
            <a:r>
              <a:rPr lang="en-US" dirty="0"/>
              <a:t>Training set balanced to </a:t>
            </a:r>
            <a:r>
              <a:rPr lang="en-US" b="1" dirty="0"/>
              <a:t>~8,200 samples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Ensures the model learns to identify Churners effectively.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8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8FDBB-5CB8-1A48-B73A-98EE89743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6.Performance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D1E5-DBFE-5090-4CFC-3314C0E33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Metrics</a:t>
            </a:r>
            <a:endParaRPr lang="en-US" dirty="0"/>
          </a:p>
          <a:p>
            <a:r>
              <a:rPr lang="en-US" b="1" dirty="0"/>
              <a:t>Accuracy:</a:t>
            </a:r>
            <a:r>
              <a:rPr lang="en-US" dirty="0"/>
              <a:t> </a:t>
            </a:r>
            <a:r>
              <a:rPr lang="en-US" b="1" dirty="0"/>
              <a:t>0.84%</a:t>
            </a:r>
            <a:endParaRPr lang="en-US" dirty="0"/>
          </a:p>
          <a:p>
            <a:pPr lvl="1"/>
            <a:r>
              <a:rPr lang="en-US" i="1" dirty="0"/>
              <a:t>Context:</a:t>
            </a:r>
            <a:r>
              <a:rPr lang="en-US" dirty="0"/>
              <a:t> Good baseline, but misleading if classes are imbalanced.</a:t>
            </a:r>
          </a:p>
          <a:p>
            <a:r>
              <a:rPr lang="en-US" b="1" dirty="0"/>
              <a:t>ROC-AUC Score:</a:t>
            </a:r>
            <a:r>
              <a:rPr lang="en-US" dirty="0"/>
              <a:t> </a:t>
            </a:r>
            <a:r>
              <a:rPr lang="en-US" b="1" dirty="0"/>
              <a:t>0.82</a:t>
            </a:r>
            <a:endParaRPr lang="en-US" dirty="0"/>
          </a:p>
          <a:p>
            <a:pPr lvl="1"/>
            <a:r>
              <a:rPr lang="en-US" i="1" dirty="0"/>
              <a:t>Meaning:</a:t>
            </a:r>
            <a:r>
              <a:rPr lang="en-US" dirty="0"/>
              <a:t> Strong ability to distinguish between High-Risk and Low-Risk customers.</a:t>
            </a:r>
          </a:p>
          <a:p>
            <a:r>
              <a:rPr lang="en-US" b="1" dirty="0"/>
              <a:t>Recall (Sensitivity):</a:t>
            </a:r>
            <a:endParaRPr lang="en-US" dirty="0"/>
          </a:p>
          <a:p>
            <a:pPr lvl="1"/>
            <a:r>
              <a:rPr lang="en-US" i="1" dirty="0"/>
              <a:t>Definition:</a:t>
            </a:r>
            <a:r>
              <a:rPr lang="en-US" dirty="0"/>
              <a:t> % of actual Churners correctly caught.</a:t>
            </a:r>
          </a:p>
          <a:p>
            <a:pPr lvl="1"/>
            <a:r>
              <a:rPr lang="en-US" i="1" dirty="0"/>
              <a:t>Why it matters:</a:t>
            </a:r>
            <a:r>
              <a:rPr lang="en-US" dirty="0"/>
              <a:t> </a:t>
            </a:r>
            <a:r>
              <a:rPr lang="en-US" b="1" dirty="0"/>
              <a:t>Missing a churner is expensive.</a:t>
            </a:r>
            <a:r>
              <a:rPr lang="en-US" dirty="0"/>
              <a:t> We prioritize Recall over Precision.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367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5410-A511-26EE-972C-D58A9734D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7.Confusion Matrix &amp; ROI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76DB5E-5AFE-9E83-C01C-B39DD52181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8336"/>
            <a:ext cx="9053953" cy="478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Business Impact Analysis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Results (Test Set):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True Positives (Caught):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219 Customers.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False Negatives (Missed):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~150 Customers.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ROI Calculation: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Scenario: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Offer $50 retention discount. CLV = $1,500.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Savings: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219 caught $\times$ ($1,500 - $50) =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$317,550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Cost of False Alarms: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160 $\times$ $50 =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-$8,000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Net Benefit: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~$309,550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saved vs. doing nothing.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958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84792-9011-8544-8531-E5E34C027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69A6D-21D9-209D-A7A5-F8C65803E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Drives Churn? (Feature Importance)</a:t>
            </a:r>
            <a:endParaRPr lang="en-US" dirty="0"/>
          </a:p>
          <a:p>
            <a:r>
              <a:rPr lang="en-US" b="1" dirty="0"/>
              <a:t>Contract Type (Highest Impact):</a:t>
            </a:r>
            <a:endParaRPr lang="en-US" dirty="0"/>
          </a:p>
          <a:p>
            <a:pPr lvl="1"/>
            <a:r>
              <a:rPr lang="en-US" dirty="0"/>
              <a:t>Month-to-Month customers are extremely volatile.</a:t>
            </a:r>
          </a:p>
          <a:p>
            <a:r>
              <a:rPr lang="en-US" b="1" dirty="0"/>
              <a:t>Tenure:</a:t>
            </a:r>
            <a:endParaRPr lang="en-US" dirty="0"/>
          </a:p>
          <a:p>
            <a:pPr lvl="1"/>
            <a:r>
              <a:rPr lang="en-US" dirty="0"/>
              <a:t>New customers (Months 1–12) are in the "Danger Zone".</a:t>
            </a:r>
          </a:p>
          <a:p>
            <a:pPr lvl="1"/>
            <a:r>
              <a:rPr lang="en-US" dirty="0"/>
              <a:t>Loyalty stabilizes significantly after 2 years.</a:t>
            </a:r>
          </a:p>
          <a:p>
            <a:r>
              <a:rPr lang="en-US" b="1" dirty="0"/>
              <a:t>Fiber Optic Internet:</a:t>
            </a:r>
            <a:endParaRPr lang="en-US" dirty="0"/>
          </a:p>
          <a:p>
            <a:pPr lvl="1"/>
            <a:r>
              <a:rPr lang="en-US" dirty="0"/>
              <a:t>Unexpectedly high churn rate.</a:t>
            </a:r>
          </a:p>
          <a:p>
            <a:pPr lvl="1"/>
            <a:r>
              <a:rPr lang="en-US" i="1" dirty="0"/>
              <a:t>Insight:</a:t>
            </a:r>
            <a:r>
              <a:rPr lang="en-US" dirty="0"/>
              <a:t> Indicates potential service quality or pricing issues specific to Fiber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857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0270-312B-D3FC-E09E-359BAC6ED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9.Conclusions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8A599-4194-FCBE-AF94-90348A59A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Strategic Next Steps</a:t>
            </a:r>
            <a:endParaRPr lang="en-US" dirty="0"/>
          </a:p>
          <a:p>
            <a:r>
              <a:rPr lang="en-US" b="1" dirty="0"/>
              <a:t>Conclusion:</a:t>
            </a:r>
            <a:endParaRPr lang="en-US" dirty="0"/>
          </a:p>
          <a:p>
            <a:pPr lvl="1"/>
            <a:r>
              <a:rPr lang="en-US" dirty="0"/>
              <a:t>Random Forest is a profitable tool for retention.</a:t>
            </a:r>
          </a:p>
          <a:p>
            <a:pPr lvl="1"/>
            <a:r>
              <a:rPr lang="en-US" dirty="0"/>
              <a:t>The model generates </a:t>
            </a:r>
            <a:r>
              <a:rPr lang="en-US" b="1" dirty="0"/>
              <a:t>$300k+</a:t>
            </a:r>
            <a:r>
              <a:rPr lang="en-US" dirty="0"/>
              <a:t> in potential value per test batch.</a:t>
            </a:r>
          </a:p>
          <a:p>
            <a:r>
              <a:rPr lang="en-US" b="1" dirty="0"/>
              <a:t>Recommendations:</a:t>
            </a:r>
            <a:endParaRPr lang="en-US" dirty="0"/>
          </a:p>
          <a:p>
            <a:pPr lvl="1"/>
            <a:r>
              <a:rPr lang="en-US" b="1" dirty="0"/>
              <a:t>Adjust Threshold:</a:t>
            </a:r>
            <a:r>
              <a:rPr lang="en-US" dirty="0"/>
              <a:t> Lower decision threshold to </a:t>
            </a:r>
            <a:r>
              <a:rPr lang="en-US" b="1" dirty="0"/>
              <a:t>0.35</a:t>
            </a:r>
            <a:r>
              <a:rPr lang="en-US" dirty="0"/>
              <a:t> to catch more missed churners.</a:t>
            </a:r>
          </a:p>
          <a:p>
            <a:pPr lvl="1"/>
            <a:r>
              <a:rPr lang="en-US" b="1" dirty="0"/>
              <a:t>Product Fix:</a:t>
            </a:r>
            <a:r>
              <a:rPr lang="en-US" dirty="0"/>
              <a:t> Investigate Fiber Optic service complaints immediately.</a:t>
            </a:r>
          </a:p>
          <a:p>
            <a:pPr lvl="1"/>
            <a:r>
              <a:rPr lang="en-US" b="1" dirty="0"/>
              <a:t>Marketing Action:</a:t>
            </a:r>
            <a:r>
              <a:rPr lang="en-US" dirty="0"/>
              <a:t> Incentivize Month-to-Month users to move to 1-Year contracts.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03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1945F-E8C5-9A7C-5B35-5B586527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467" y="2624666"/>
            <a:ext cx="10131425" cy="1456267"/>
          </a:xfrm>
        </p:spPr>
        <p:txBody>
          <a:bodyPr>
            <a:normAutofit/>
          </a:bodyPr>
          <a:lstStyle/>
          <a:p>
            <a:r>
              <a:rPr lang="en-US" sz="5400" dirty="0"/>
              <a:t>						Thank You </a:t>
            </a:r>
            <a:r>
              <a:rPr lang="en-US" sz="5400" dirty="0">
                <a:sym typeface="Wingdings" panose="05000000000000000000" pitchFamily="2" charset="2"/>
              </a:rPr>
              <a:t></a:t>
            </a:r>
            <a:r>
              <a:rPr lang="en-US" sz="5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725645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80</TotalTime>
  <Words>767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Google Sans Text</vt:lpstr>
      <vt:lpstr>Wingdings</vt:lpstr>
      <vt:lpstr>Celestial</vt:lpstr>
      <vt:lpstr>     Customer Churn Prediction </vt:lpstr>
      <vt:lpstr>1.Introduction to the Algorithm</vt:lpstr>
      <vt:lpstr>2.Working Principle Concept: Bagging &amp; Majority Voting </vt:lpstr>
      <vt:lpstr>3.Mathematical Intuition</vt:lpstr>
      <vt:lpstr>4.Implementation Details (Part 1)</vt:lpstr>
      <vt:lpstr>5.Implementation Details (Part 2)</vt:lpstr>
      <vt:lpstr>6.Performance Evaluation</vt:lpstr>
      <vt:lpstr>7.Confusion Matrix &amp; ROI</vt:lpstr>
      <vt:lpstr>8.Key Findings</vt:lpstr>
      <vt:lpstr>9.Conclusions &amp; Recommendations</vt:lpstr>
      <vt:lpstr>      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Kirti Shelar</dc:creator>
  <cp:lastModifiedBy>Kirti Shelar</cp:lastModifiedBy>
  <cp:revision>2</cp:revision>
  <dcterms:created xsi:type="dcterms:W3CDTF">2025-12-05T05:10:13Z</dcterms:created>
  <dcterms:modified xsi:type="dcterms:W3CDTF">2025-12-05T08:15:00Z</dcterms:modified>
</cp:coreProperties>
</file>